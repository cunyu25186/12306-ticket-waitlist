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496" y="6556248"/>
            <a:ext cx="59436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模拟 12306 车票候补模块  ·  方案设计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66928"/>
            <a:ext cx="6446520" cy="5650992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" y="914400"/>
            <a:ext cx="82296" cy="621792"/>
          </a:xfrm>
          <a:prstGeom prst="roundRect">
            <a:avLst>
              <a:gd name="adj" fmla="val 22222"/>
            </a:avLst>
          </a:prstGeom>
          <a:solidFill>
            <a:srgbClr val="169C91"/>
          </a:solidFill>
          <a:ln w="1270">
            <a:solidFill>
              <a:srgbClr val="169C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9418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C++ 程序设计 · 方案设计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" y="1389888"/>
            <a:ext cx="5486400" cy="1353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模拟 12306</a:t>
            </a:r>
            <a:endParaRPr lang="en-US" sz="3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车票候补模块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43000" y="3017520"/>
            <a:ext cx="5303520" cy="676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围绕候补队列、余票分配与菜单操作，设计一套清晰可实现的处理方案。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4041648"/>
            <a:ext cx="1627632" cy="320040"/>
          </a:xfrm>
          <a:prstGeom prst="roundRect">
            <a:avLst>
              <a:gd name="adj" fmla="val 28571"/>
            </a:avLst>
          </a:prstGeom>
          <a:solidFill>
            <a:srgbClr val="E1F5F1"/>
          </a:solidFill>
          <a:ln w="2540">
            <a:solidFill>
              <a:srgbClr val="E1F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50792"/>
            <a:ext cx="1536192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先进先出 FIFO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07792" y="4041648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E8F1FB"/>
          </a:solidFill>
          <a:ln w="2540">
            <a:solidFill>
              <a:srgbClr val="E8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4050792"/>
            <a:ext cx="13258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6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queue 队列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2272" y="4041648"/>
            <a:ext cx="1600200" cy="320040"/>
          </a:xfrm>
          <a:prstGeom prst="roundRect">
            <a:avLst>
              <a:gd name="adj" fmla="val 28571"/>
            </a:avLst>
          </a:prstGeom>
          <a:solidFill>
            <a:srgbClr val="FFF3DF"/>
          </a:solidFill>
          <a:ln w="2540">
            <a:solidFill>
              <a:srgbClr val="FFF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4050792"/>
            <a:ext cx="15087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62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余票逐笔扣减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43000" y="4663440"/>
            <a:ext cx="521208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42632" y="566928"/>
            <a:ext cx="4224528" cy="5650992"/>
          </a:xfrm>
          <a:prstGeom prst="roundRect">
            <a:avLst>
              <a:gd name="adj" fmla="val 3463"/>
            </a:avLst>
          </a:prstGeom>
          <a:solidFill>
            <a:srgbClr val="1C304B"/>
          </a:solidFill>
          <a:ln w="2540">
            <a:solidFill>
              <a:srgbClr val="1C30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89611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候补队列 / FIFO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35824" y="127101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D0DA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新订单从队尾加入，放票从队头处理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754112" y="2084832"/>
            <a:ext cx="283464" cy="283464"/>
          </a:xfrm>
          <a:prstGeom prst="ellipse">
            <a:avLst/>
          </a:prstGeom>
          <a:solidFill>
            <a:srgbClr val="169C91"/>
          </a:solidFill>
          <a:ln w="10160">
            <a:solidFill>
              <a:srgbClr val="169C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1810512"/>
            <a:ext cx="2852928" cy="822960"/>
          </a:xfrm>
          <a:prstGeom prst="roundRect">
            <a:avLst>
              <a:gd name="adj" fmla="val 11111"/>
            </a:avLst>
          </a:prstGeom>
          <a:solidFill>
            <a:srgbClr val="E1F5F1"/>
          </a:solidFill>
          <a:ln w="2540">
            <a:solidFill>
              <a:srgbClr val="E1F5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19202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94192" y="2249424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张三 · 候补 2 张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10195560" y="2084832"/>
            <a:ext cx="603504" cy="256032"/>
          </a:xfrm>
          <a:prstGeom prst="roundRect">
            <a:avLst>
              <a:gd name="adj" fmla="val 35714"/>
            </a:avLst>
          </a:prstGeom>
          <a:solidFill>
            <a:srgbClr val="169C91"/>
          </a:solidFill>
          <a:ln w="2540">
            <a:solidFill>
              <a:srgbClr val="169C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2093976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55480" y="2642616"/>
            <a:ext cx="0" cy="201168"/>
          </a:xfrm>
          <a:prstGeom prst="line">
            <a:avLst/>
          </a:prstGeom>
          <a:noFill/>
          <a:ln w="19050">
            <a:solidFill>
              <a:srgbClr val="7E92A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54112" y="3182112"/>
            <a:ext cx="283464" cy="283464"/>
          </a:xfrm>
          <a:prstGeom prst="ellipse">
            <a:avLst/>
          </a:prstGeom>
          <a:solidFill>
            <a:srgbClr val="3C78B8"/>
          </a:solidFill>
          <a:ln w="10160">
            <a:solidFill>
              <a:srgbClr val="3C7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2907792"/>
            <a:ext cx="2852928" cy="822960"/>
          </a:xfrm>
          <a:prstGeom prst="roundRect">
            <a:avLst>
              <a:gd name="adj" fmla="val 11111"/>
            </a:avLst>
          </a:prstGeom>
          <a:solidFill>
            <a:srgbClr val="E8F1FB"/>
          </a:solidFill>
          <a:ln w="2540">
            <a:solidFill>
              <a:srgbClr val="E8F1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301752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3346704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李四 · 候补 1 张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10195560" y="3182112"/>
            <a:ext cx="603504" cy="256032"/>
          </a:xfrm>
          <a:prstGeom prst="roundRect">
            <a:avLst>
              <a:gd name="adj" fmla="val 35714"/>
            </a:avLst>
          </a:prstGeom>
          <a:solidFill>
            <a:srgbClr val="3C78B8"/>
          </a:solidFill>
          <a:ln w="2540">
            <a:solidFill>
              <a:srgbClr val="3C78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0" y="3191256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55480" y="3739896"/>
            <a:ext cx="0" cy="201168"/>
          </a:xfrm>
          <a:prstGeom prst="line">
            <a:avLst/>
          </a:prstGeom>
          <a:noFill/>
          <a:ln w="19050">
            <a:solidFill>
              <a:srgbClr val="7E92A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54112" y="4279392"/>
            <a:ext cx="283464" cy="283464"/>
          </a:xfrm>
          <a:prstGeom prst="ellipse">
            <a:avLst/>
          </a:prstGeom>
          <a:solidFill>
            <a:srgbClr val="E5A23C"/>
          </a:solidFill>
          <a:ln w="10160">
            <a:solidFill>
              <a:srgbClr val="E5A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4005072"/>
            <a:ext cx="2852928" cy="822960"/>
          </a:xfrm>
          <a:prstGeom prst="roundRect">
            <a:avLst>
              <a:gd name="adj" fmla="val 11111"/>
            </a:avLst>
          </a:prstGeom>
          <a:solidFill>
            <a:srgbClr val="FFF3DF"/>
          </a:solidFill>
          <a:ln w="2540">
            <a:solidFill>
              <a:srgbClr val="FFF3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411480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94192" y="4443984"/>
            <a:ext cx="1645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王五 · 候补 2 张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10195560" y="4279392"/>
            <a:ext cx="603504" cy="256032"/>
          </a:xfrm>
          <a:prstGeom prst="roundRect">
            <a:avLst>
              <a:gd name="adj" fmla="val 35714"/>
            </a:avLst>
          </a:prstGeom>
          <a:solidFill>
            <a:srgbClr val="E5A23C"/>
          </a:solidFill>
          <a:ln w="2540">
            <a:solidFill>
              <a:srgbClr val="E5A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0" y="4288536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队尾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44968" y="523951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3D4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规则重点：不能跳过队头订单。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 / 需求分析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9496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确定程序行为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03504" y="1517904"/>
            <a:ext cx="53766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737360"/>
            <a:ext cx="402336" cy="402336"/>
          </a:xfrm>
          <a:prstGeom prst="ellipse">
            <a:avLst/>
          </a:prstGeom>
          <a:solidFill>
            <a:srgbClr val="E1F5F1"/>
          </a:solidFill>
          <a:ln w="10160">
            <a:solidFill>
              <a:srgbClr val="E1F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74650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353312" y="16916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新增候补订单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3312" y="2048256"/>
            <a:ext cx="43434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输入订单号、旅客姓名、身份证号和候补票数；新订单追加到队尾。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199632" y="1517904"/>
            <a:ext cx="53766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737360"/>
            <a:ext cx="402336" cy="402336"/>
          </a:xfrm>
          <a:prstGeom prst="ellipse">
            <a:avLst/>
          </a:prstGeom>
          <a:solidFill>
            <a:srgbClr val="E8F1FB"/>
          </a:solidFill>
          <a:ln w="10160">
            <a:solidFill>
              <a:srgbClr val="E8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74650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C7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949440" y="16916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按提交顺序处理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0" y="2048256"/>
            <a:ext cx="43434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队列采用先进先出（FIFO）：越早进入队列的订单，越先获得处理机会。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3504" y="2971800"/>
            <a:ext cx="53766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" y="3191256"/>
            <a:ext cx="402336" cy="402336"/>
          </a:xfrm>
          <a:prstGeom prst="ellipse">
            <a:avLst/>
          </a:prstGeom>
          <a:solidFill>
            <a:srgbClr val="FFF3DF"/>
          </a:solidFill>
          <a:ln w="10160">
            <a:solidFill>
              <a:srgbClr val="FFF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3200400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5A2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353312" y="314553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释放余票并扣减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53312" y="3502152"/>
            <a:ext cx="43434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输入本次释放票数 k，从队头逐单处理；每成功一单，就扣减该单所需票数。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199632" y="2971800"/>
            <a:ext cx="537667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191256"/>
            <a:ext cx="402336" cy="402336"/>
          </a:xfrm>
          <a:prstGeom prst="ellipse">
            <a:avLst/>
          </a:prstGeom>
          <a:solidFill>
            <a:srgbClr val="FCECE9"/>
          </a:solidFill>
          <a:ln w="10160">
            <a:solidFill>
              <a:srgbClr val="FCEC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3200400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CF66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949440" y="314553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余票不足就等待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3502152"/>
            <a:ext cx="43434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余票为 0 或不足以满足队头整笔订单时，停止本轮处理，未完成订单继续留队。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2648" y="4553712"/>
            <a:ext cx="10972800" cy="109728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8890">
            <a:solidFill>
              <a:srgbClr val="F1D7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773168"/>
            <a:ext cx="1051560" cy="274320"/>
          </a:xfrm>
          <a:prstGeom prst="roundRect">
            <a:avLst>
              <a:gd name="adj" fmla="val 33333"/>
            </a:avLst>
          </a:prstGeom>
          <a:solidFill>
            <a:srgbClr val="F1D7AD"/>
          </a:solidFill>
          <a:ln w="2540">
            <a:solidFill>
              <a:srgbClr val="F1D7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8231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356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设计补充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48840" y="4709160"/>
            <a:ext cx="900684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题目要求“扣减该订单所需票数”，因此订单数据需要包含候补票数 ticketCount。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640080" y="5934456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核心原则：先排队、先处理；票数够才出队，票数不够不越位。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 / 数据结构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9496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订单结构体 + queue 队列，分别解决“存什么”和“怎么排”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033272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结构体保存一笔订单的信息，队列维护所有候补订单的先后顺序。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5257800" cy="3456432"/>
          </a:xfrm>
          <a:prstGeom prst="roundRect">
            <a:avLst>
              <a:gd name="adj" fmla="val 3704"/>
            </a:avLst>
          </a:prstGeom>
          <a:solidFill>
            <a:srgbClr val="1C304B"/>
          </a:solidFill>
          <a:ln w="5080">
            <a:solidFill>
              <a:srgbClr val="1C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46504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订单结构体 CandidateOrder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4663440" y="1746504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35516F"/>
          </a:solidFill>
          <a:ln w="2540">
            <a:solidFill>
              <a:srgbClr val="3551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755648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FE8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数据模型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B7E8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CandidateOrder {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960120" y="2578608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orderNo;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960120" y="2935224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passengerName;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idCard;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960120" y="3648456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4CA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ticketCount;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60120" y="40050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B7E8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950976" y="4535424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D7E1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ticketCount：本订单需要的票数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5404104" cy="345643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4650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候补队列 waiting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10360152" y="1746504"/>
            <a:ext cx="786384" cy="256032"/>
          </a:xfrm>
          <a:prstGeom prst="roundRect">
            <a:avLst>
              <a:gd name="adj" fmla="val 35714"/>
            </a:avLst>
          </a:prstGeom>
          <a:solidFill>
            <a:srgbClr val="E1F5F1"/>
          </a:solidFill>
          <a:ln w="2540">
            <a:solidFill>
              <a:srgbClr val="E1F5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05872" y="1755648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FIFO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2231136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队头 FRONT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492240" y="2670048"/>
            <a:ext cx="1389888" cy="841248"/>
          </a:xfrm>
          <a:prstGeom prst="roundRect">
            <a:avLst>
              <a:gd name="adj" fmla="val 10870"/>
            </a:avLst>
          </a:prstGeom>
          <a:solidFill>
            <a:srgbClr val="E1F5F1"/>
          </a:solidFill>
          <a:ln w="10160">
            <a:solidFill>
              <a:srgbClr val="B8E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834640"/>
            <a:ext cx="117043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A1001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6601968" y="315468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张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900416" y="3090672"/>
            <a:ext cx="155448" cy="0"/>
          </a:xfrm>
          <a:prstGeom prst="line">
            <a:avLst/>
          </a:prstGeom>
          <a:noFill/>
          <a:ln w="17780">
            <a:solidFill>
              <a:srgbClr val="6171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10728" y="2670048"/>
            <a:ext cx="1389888" cy="841248"/>
          </a:xfrm>
          <a:prstGeom prst="roundRect">
            <a:avLst>
              <a:gd name="adj" fmla="val 10870"/>
            </a:avLst>
          </a:prstGeom>
          <a:solidFill>
            <a:srgbClr val="E8F1FB"/>
          </a:solidFill>
          <a:ln w="10160">
            <a:solidFill>
              <a:srgbClr val="CBD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0456" y="2834640"/>
            <a:ext cx="117043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A1002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8220456" y="315468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张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518904" y="3090672"/>
            <a:ext cx="155448" cy="0"/>
          </a:xfrm>
          <a:prstGeom prst="line">
            <a:avLst/>
          </a:prstGeom>
          <a:noFill/>
          <a:ln w="17780">
            <a:solidFill>
              <a:srgbClr val="6171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29216" y="2670048"/>
            <a:ext cx="1389888" cy="841248"/>
          </a:xfrm>
          <a:prstGeom prst="roundRect">
            <a:avLst>
              <a:gd name="adj" fmla="val 10870"/>
            </a:avLst>
          </a:prstGeom>
          <a:solidFill>
            <a:srgbClr val="FFF3DF"/>
          </a:solidFill>
          <a:ln w="10160">
            <a:solidFill>
              <a:srgbClr val="F0D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38944" y="2834640"/>
            <a:ext cx="1170432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A1003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9838944" y="315468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张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9994392" y="369417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30" b="1" dirty="0">
                <a:solidFill>
                  <a:srgbClr val="9462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队尾 REAR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92240" y="4105656"/>
            <a:ext cx="4681728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4306824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新增：push() 加到队尾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69680" y="4306824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C78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成功：pop() 移除队头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" y="5276088"/>
            <a:ext cx="10972800" cy="704088"/>
          </a:xfrm>
          <a:prstGeom prst="roundRect">
            <a:avLst>
              <a:gd name="adj" fmla="val 12987"/>
            </a:avLst>
          </a:prstGeom>
          <a:solidFill>
            <a:srgbClr val="E1F5F1"/>
          </a:solidFill>
          <a:ln w="8890">
            <a:solidFill>
              <a:srgbClr val="C6E9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5477256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为什么选 queue？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487168" y="5440680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题目要求先进先出；queue 的 front / push / pop 与业务规则一一对应，避免误把新订单插到前面。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 / 功能设计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9496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菜单驱动：每次操作完成后回到主菜单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3886200" cy="4361688"/>
          </a:xfrm>
          <a:prstGeom prst="roundRect">
            <a:avLst>
              <a:gd name="adj" fmla="val 3294"/>
            </a:avLst>
          </a:prstGeom>
          <a:solidFill>
            <a:srgbClr val="1C304B"/>
          </a:solidFill>
          <a:ln w="5080">
            <a:solidFill>
              <a:srgbClr val="1C30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46504"/>
            <a:ext cx="2423160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主菜单设计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12140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CFD9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请选择操作编号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950976" y="2542032"/>
            <a:ext cx="329184" cy="329184"/>
          </a:xfrm>
          <a:prstGeom prst="ellipse">
            <a:avLst/>
          </a:prstGeom>
          <a:solidFill>
            <a:srgbClr val="169C91"/>
          </a:solidFill>
          <a:ln w="10160">
            <a:solidFill>
              <a:srgbClr val="169C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551176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426464" y="2532888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新增候补订单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426464" y="2816352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0DA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录入订单并入队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50976" y="3246120"/>
            <a:ext cx="329184" cy="329184"/>
          </a:xfrm>
          <a:prstGeom prst="ellipse">
            <a:avLst/>
          </a:prstGeom>
          <a:solidFill>
            <a:srgbClr val="3C78B8"/>
          </a:solidFill>
          <a:ln w="10160">
            <a:solidFill>
              <a:srgbClr val="3C7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255264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426464" y="323697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释放余票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426464" y="3520440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0DA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依次补票并扣减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50976" y="3950208"/>
            <a:ext cx="329184" cy="329184"/>
          </a:xfrm>
          <a:prstGeom prst="ellipse">
            <a:avLst/>
          </a:prstGeom>
          <a:solidFill>
            <a:srgbClr val="E5A23C"/>
          </a:solidFill>
          <a:ln w="10160">
            <a:solidFill>
              <a:srgbClr val="E5A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959352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1426464" y="394106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查看候补队列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426464" y="4224528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0DA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显示当前等待顺序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50976" y="4654296"/>
            <a:ext cx="329184" cy="329184"/>
          </a:xfrm>
          <a:prstGeom prst="ellipse">
            <a:avLst/>
          </a:prstGeom>
          <a:solidFill>
            <a:srgbClr val="CF665B"/>
          </a:solidFill>
          <a:ln w="10160">
            <a:solidFill>
              <a:srgbClr val="CF66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663440"/>
            <a:ext cx="32918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426464" y="464515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退出程序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426464" y="4928616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D0DA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结束菜单循环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892040" y="1481328"/>
            <a:ext cx="6675120" cy="1947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1481328"/>
            <a:ext cx="64008" cy="1947672"/>
          </a:xfrm>
          <a:prstGeom prst="roundRect">
            <a:avLst>
              <a:gd name="adj" fmla="val 28571"/>
            </a:avLst>
          </a:prstGeom>
          <a:solidFill>
            <a:srgbClr val="169C91"/>
          </a:solidFill>
          <a:ln w="1270">
            <a:solidFill>
              <a:srgbClr val="169C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1627632"/>
            <a:ext cx="6281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操作 A｜新增订单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5102352" y="1984248"/>
            <a:ext cx="6281928" cy="13350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① 输入订单号、旅客姓名、身份证号、候补票数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② 检查必填字段，候补票数必须大于 0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③ 创建订单对象 → waiting.push(order)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④ 输出“加入成功”和当前排队位置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4892040" y="3675888"/>
            <a:ext cx="667512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675888"/>
            <a:ext cx="64008" cy="2157984"/>
          </a:xfrm>
          <a:prstGeom prst="roundRect">
            <a:avLst>
              <a:gd name="adj" fmla="val 28571"/>
            </a:avLst>
          </a:prstGeom>
          <a:solidFill>
            <a:srgbClr val="3C78B8"/>
          </a:solidFill>
          <a:ln w="1270">
            <a:solidFill>
              <a:srgbClr val="3C78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822192"/>
            <a:ext cx="6281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操作 B｜释放余票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5102352" y="4178808"/>
            <a:ext cx="6281928" cy="15453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① 输入本次释放票数 k（必须大于 0）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② 设置 remaining = k，检查队头订单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③ 够票：输出补票成功 → 扣减 → 队头出队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④ 不够：停止本轮，保留队头；最后显示余票和队列状态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6025896"/>
            <a:ext cx="64008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补充：选择“查看队列”不会改变订单状态，只用于观察队列当前顺序。</a:t>
            </a:r>
            <a:endParaRPr lang="en-US" sz="10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 / 核心算法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9496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放票逻辑：只看队头，成功后再扣减并出队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033272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关键判断是“当前余票是否足够满足队头整笔订单”。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2029968" y="1481328"/>
            <a:ext cx="3154680" cy="493776"/>
          </a:xfrm>
          <a:prstGeom prst="roundRect">
            <a:avLst>
              <a:gd name="adj" fmla="val 22222"/>
            </a:avLst>
          </a:prstGeom>
          <a:solidFill>
            <a:srgbClr val="E8F1FB"/>
          </a:solidFill>
          <a:ln w="10160">
            <a:solidFill>
              <a:srgbClr val="BFD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76272" y="1581912"/>
            <a:ext cx="28712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输入本次释放余票 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02736" y="1975104"/>
            <a:ext cx="0" cy="292608"/>
          </a:xfrm>
          <a:prstGeom prst="line">
            <a:avLst/>
          </a:prstGeom>
          <a:noFill/>
          <a:ln w="17780">
            <a:solidFill>
              <a:srgbClr val="6171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09344" y="2286000"/>
            <a:ext cx="3986784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3936" y="244144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队列非空 且 remaining &gt; 0 ?</a:t>
            </a:r>
            <a:endParaRPr lang="en-US" sz="1170" dirty="0"/>
          </a:p>
        </p:txBody>
      </p:sp>
      <p:sp>
        <p:nvSpPr>
          <p:cNvPr id="10" name="Shape 8"/>
          <p:cNvSpPr/>
          <p:nvPr/>
        </p:nvSpPr>
        <p:spPr>
          <a:xfrm>
            <a:off x="3602736" y="2862072"/>
            <a:ext cx="0" cy="320040"/>
          </a:xfrm>
          <a:prstGeom prst="line">
            <a:avLst/>
          </a:prstGeom>
          <a:noFill/>
          <a:ln w="17780">
            <a:solidFill>
              <a:srgbClr val="169C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21608" y="2926080"/>
            <a:ext cx="411480" cy="219456"/>
          </a:xfrm>
          <a:prstGeom prst="roundRect">
            <a:avLst>
              <a:gd name="adj" fmla="val 41667"/>
            </a:avLst>
          </a:prstGeom>
          <a:solidFill>
            <a:srgbClr val="E1F5F1"/>
          </a:solidFill>
          <a:ln w="2540">
            <a:solidFill>
              <a:srgbClr val="E1F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93522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54480" y="3200400"/>
            <a:ext cx="4096512" cy="576072"/>
          </a:xfrm>
          <a:prstGeom prst="roundRect">
            <a:avLst>
              <a:gd name="adj" fmla="val 19048"/>
            </a:avLst>
          </a:prstGeom>
          <a:solidFill>
            <a:srgbClr val="FFF3DF"/>
          </a:solidFill>
          <a:ln w="10160">
            <a:solidFill>
              <a:srgbClr val="F0D4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3355848"/>
            <a:ext cx="382219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队头订单所需票数 ≤ remaining ?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1874520" y="3776472"/>
            <a:ext cx="0" cy="137160"/>
          </a:xfrm>
          <a:prstGeom prst="line">
            <a:avLst/>
          </a:prstGeom>
          <a:noFill/>
          <a:ln w="17780">
            <a:solidFill>
              <a:srgbClr val="E5A23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993392" y="379476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9462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否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4069080"/>
            <a:ext cx="1938528" cy="685800"/>
          </a:xfrm>
          <a:prstGeom prst="roundRect">
            <a:avLst>
              <a:gd name="adj" fmla="val 13333"/>
            </a:avLst>
          </a:prstGeom>
          <a:solidFill>
            <a:srgbClr val="FCECE9"/>
          </a:solidFill>
          <a:ln w="8890">
            <a:solidFill>
              <a:srgbClr val="EAC2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151376"/>
            <a:ext cx="1719072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9744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停止本轮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9744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队头保留不出队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650992" y="3493008"/>
            <a:ext cx="393192" cy="0"/>
          </a:xfrm>
          <a:prstGeom prst="line">
            <a:avLst/>
          </a:prstGeom>
          <a:noFill/>
          <a:ln w="17780">
            <a:solidFill>
              <a:srgbClr val="169C9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696712" y="324612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3200400"/>
            <a:ext cx="1353312" cy="576072"/>
          </a:xfrm>
          <a:prstGeom prst="roundRect">
            <a:avLst>
              <a:gd name="adj" fmla="val 15873"/>
            </a:avLst>
          </a:prstGeom>
          <a:solidFill>
            <a:srgbClr val="E1F5F1"/>
          </a:solidFill>
          <a:ln w="8890">
            <a:solidFill>
              <a:srgbClr val="B9E4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3273552"/>
            <a:ext cx="115214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输出成功</a:t>
            </a:r>
            <a:endParaRPr lang="en-US" sz="990" dirty="0"/>
          </a:p>
          <a:p>
            <a:pPr marL="0" indent="0" algn="ctr">
              <a:buNone/>
            </a:pPr>
            <a:r>
              <a:rPr lang="en-US" sz="99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扣减并 pop()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6766560" y="3785616"/>
            <a:ext cx="0" cy="1106424"/>
          </a:xfrm>
          <a:prstGeom prst="line">
            <a:avLst/>
          </a:prstGeom>
          <a:noFill/>
          <a:ln w="17780">
            <a:solidFill>
              <a:srgbClr val="169C9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4892040"/>
            <a:ext cx="6236208" cy="0"/>
          </a:xfrm>
          <a:prstGeom prst="line">
            <a:avLst/>
          </a:prstGeom>
          <a:noFill/>
          <a:ln w="17780">
            <a:solidFill>
              <a:srgbClr val="169C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2578608"/>
            <a:ext cx="0" cy="2313432"/>
          </a:xfrm>
          <a:prstGeom prst="line">
            <a:avLst/>
          </a:prstGeom>
          <a:noFill/>
          <a:ln w="17780">
            <a:solidFill>
              <a:srgbClr val="169C9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578608"/>
            <a:ext cx="1078992" cy="0"/>
          </a:xfrm>
          <a:prstGeom prst="line">
            <a:avLst/>
          </a:prstGeom>
          <a:noFill/>
          <a:ln w="17780">
            <a:solidFill>
              <a:srgbClr val="169C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96128" y="2578608"/>
            <a:ext cx="667512" cy="0"/>
          </a:xfrm>
          <a:prstGeom prst="line">
            <a:avLst/>
          </a:prstGeom>
          <a:noFill/>
          <a:ln w="17780">
            <a:solidFill>
              <a:srgbClr val="61718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715000" y="234086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2286000"/>
            <a:ext cx="1143000" cy="576072"/>
          </a:xfrm>
          <a:prstGeom prst="roundRect">
            <a:avLst>
              <a:gd name="adj" fmla="val 15873"/>
            </a:avLst>
          </a:prstGeom>
          <a:solidFill>
            <a:srgbClr val="1C304B"/>
          </a:solidFill>
          <a:ln w="8890">
            <a:solidFill>
              <a:srgbClr val="1C30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59152"/>
            <a:ext cx="9601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输出结果</a:t>
            </a:r>
            <a:endParaRPr lang="en-US" sz="970" dirty="0"/>
          </a:p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结束本轮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028432" y="1481328"/>
            <a:ext cx="3547872" cy="4480560"/>
          </a:xfrm>
          <a:prstGeom prst="roundRect">
            <a:avLst>
              <a:gd name="adj" fmla="val 3608"/>
            </a:avLst>
          </a:prstGeom>
          <a:solidFill>
            <a:srgbClr val="1C304B"/>
          </a:solidFill>
          <a:ln w="5080">
            <a:solidFill>
              <a:srgbClr val="1C30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17556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伪代码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8339328" y="22219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E8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remaining = k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8339328" y="257860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队列非空 且 remaining &gt; 0：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8339328" y="293522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order = 队头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8339328" y="329184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4CA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order.ticketCount &gt; remaining：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8339328" y="364845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4CA7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break  // 保留队头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8339328" y="400507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输出订单补票成功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339328" y="436168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E8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remaining -= ticketCount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339328" y="471830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B7E8D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pop() 移除队头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8339328" y="507492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4DF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输出 remaining 和等待队列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321040" y="5486400"/>
            <a:ext cx="2944368" cy="274320"/>
          </a:xfrm>
          <a:prstGeom prst="roundRect">
            <a:avLst>
              <a:gd name="adj" fmla="val 23333"/>
            </a:avLst>
          </a:prstGeom>
          <a:solidFill>
            <a:srgbClr val="314864"/>
          </a:solidFill>
          <a:ln w="1270">
            <a:solidFill>
              <a:srgbClr val="31486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5522976"/>
            <a:ext cx="27614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4C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不可跳过队头</a:t>
            </a:r>
            <a:endParaRPr lang="en-US" sz="102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2743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69C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/ 示例推演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9496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 3 张票，走完整个放票过程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033272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假设队列里有三笔订单：2 张、1 张、2 张；按队列顺序处理。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658368" y="1444752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初始候补队列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801368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E1F5F1"/>
          </a:solidFill>
          <a:ln w="10160">
            <a:solidFill>
              <a:srgbClr val="B8E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476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A1001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张三 · 需要 2 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93008" y="2194560"/>
            <a:ext cx="438912" cy="0"/>
          </a:xfrm>
          <a:prstGeom prst="line">
            <a:avLst/>
          </a:prstGeom>
          <a:noFill/>
          <a:ln w="16510">
            <a:solidFill>
              <a:srgbClr val="6171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05072" y="1801368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E8F1FB"/>
          </a:solidFill>
          <a:ln w="10160">
            <a:solidFill>
              <a:srgbClr val="CB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9476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A1002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187952" y="226771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李四 · 需要 1 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39712" y="2194560"/>
            <a:ext cx="438912" cy="0"/>
          </a:xfrm>
          <a:prstGeom prst="line">
            <a:avLst/>
          </a:prstGeom>
          <a:noFill/>
          <a:ln w="16510">
            <a:solidFill>
              <a:srgbClr val="6171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51776" y="1801368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FFF3DF"/>
          </a:solidFill>
          <a:ln w="10160">
            <a:solidFill>
              <a:srgbClr val="F0D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34656" y="1947672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A1003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534656" y="226771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王五 · 需要 2 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2898648"/>
            <a:ext cx="5413248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136392"/>
            <a:ext cx="1755648" cy="283464"/>
          </a:xfrm>
          <a:prstGeom prst="roundRect">
            <a:avLst>
              <a:gd name="adj" fmla="val 32258"/>
            </a:avLst>
          </a:prstGeom>
          <a:solidFill>
            <a:srgbClr val="E8F1FB"/>
          </a:solidFill>
          <a:ln w="2540">
            <a:solidFill>
              <a:srgbClr val="E8F1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45536"/>
            <a:ext cx="166420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60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 次放票：k = 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" y="3639312"/>
            <a:ext cx="246888" cy="246888"/>
          </a:xfrm>
          <a:prstGeom prst="ellipse">
            <a:avLst/>
          </a:prstGeom>
          <a:solidFill>
            <a:srgbClr val="169C91"/>
          </a:solidFill>
          <a:ln w="10160">
            <a:solidFill>
              <a:srgbClr val="169C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648456"/>
            <a:ext cx="246888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35024" y="363931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A1001 需要 2 张：成功，剩余 1 张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50976" y="4078224"/>
            <a:ext cx="246888" cy="246888"/>
          </a:xfrm>
          <a:prstGeom prst="ellipse">
            <a:avLst/>
          </a:prstGeom>
          <a:solidFill>
            <a:srgbClr val="169C91"/>
          </a:solidFill>
          <a:ln w="10160">
            <a:solidFill>
              <a:srgbClr val="169C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087368"/>
            <a:ext cx="246888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35024" y="4078224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A1002 需要 1 张：成功，剩余 0 张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950976" y="4517136"/>
            <a:ext cx="246888" cy="246888"/>
          </a:xfrm>
          <a:prstGeom prst="ellipse">
            <a:avLst/>
          </a:prstGeom>
          <a:solidFill>
            <a:srgbClr val="E5A23C"/>
          </a:solidFill>
          <a:ln w="10160">
            <a:solidFill>
              <a:srgbClr val="E5A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526280"/>
            <a:ext cx="246888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35024" y="4517136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A1003 仍在队列，等待下一次放票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291072" y="2898648"/>
            <a:ext cx="5257800" cy="230428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6248" y="3136392"/>
            <a:ext cx="1755648" cy="283464"/>
          </a:xfrm>
          <a:prstGeom prst="roundRect">
            <a:avLst>
              <a:gd name="adj" fmla="val 32258"/>
            </a:avLst>
          </a:prstGeom>
          <a:solidFill>
            <a:srgbClr val="E1F5F1"/>
          </a:solidFill>
          <a:ln w="2540">
            <a:solidFill>
              <a:srgbClr val="E1F5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3145536"/>
            <a:ext cx="166420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2 次放票：k = 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65392" y="3639312"/>
            <a:ext cx="4434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当前队头：A1003（需要 2 张）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6565392" y="4050792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张足够 → 补票成功 → 扣减 2 张 → 出队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565392" y="4535424"/>
            <a:ext cx="4526280" cy="402336"/>
          </a:xfrm>
          <a:prstGeom prst="roundRect">
            <a:avLst>
              <a:gd name="adj" fmla="val 18182"/>
            </a:avLst>
          </a:prstGeom>
          <a:solidFill>
            <a:srgbClr val="E1F5F1"/>
          </a:solidFill>
          <a:ln w="6350">
            <a:solidFill>
              <a:srgbClr val="B8E7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636008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76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最终：余票 0 张，候补队列为空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" y="5468112"/>
            <a:ext cx="10890504" cy="621792"/>
          </a:xfrm>
          <a:prstGeom prst="roundRect">
            <a:avLst>
              <a:gd name="adj" fmla="val 14706"/>
            </a:avLst>
          </a:prstGeom>
          <a:solidFill>
            <a:srgbClr val="FFF3DF"/>
          </a:solidFill>
          <a:ln w="8890">
            <a:solidFill>
              <a:srgbClr val="F0D7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65099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8D5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队头优先原则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2386584" y="5623560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92A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如果队头需要 2 张而本轮只释放 1 张，就停止本轮，不能跳过队头去给后面的订单。</a:t>
            </a:r>
            <a:endParaRPr lang="en-US" sz="107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82528" y="6537960"/>
            <a:ext cx="502920" cy="164592"/>
          </a:xfrm>
          <a:prstGeom prst="rect">
            <a:avLst/>
          </a:prstGeom>
        </p:spPr>
        <p:txBody>
          <a:bodyPr lIns="0" tIns="0" rIns="0" bIns="0"/>
          <a:lstStyle>
            <a:lvl1pPr>
              <a:defRPr sz="800">
                <a:solidFill>
                  <a:srgbClr val="6171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WPS 演示</Application>
  <PresentationFormat>On-screen Show (16:9)</PresentationFormat>
  <Paragraphs>278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模拟12306车票候补模块（基础版）方案设计</dc:title>
  <dc:creator>OpenAI</dc:creator>
  <dc:subject>模拟12306车票候补模块——方案设计</dc:subject>
  <cp:lastModifiedBy>WPS_1670049118</cp:lastModifiedBy>
  <cp:revision>3</cp:revision>
  <dcterms:created xsi:type="dcterms:W3CDTF">2026-10-11T08:24:00Z</dcterms:created>
  <dcterms:modified xsi:type="dcterms:W3CDTF">2026-10-14T03:37:02Z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DC8B91D898454E73A1D04D089CF39984_12</vt:lpwstr>
  </property>
</Properties>
</file>